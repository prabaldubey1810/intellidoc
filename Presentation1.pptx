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79" r:id="rId4"/>
    <p:sldId id="259" r:id="rId5"/>
    <p:sldId id="280" r:id="rId6"/>
    <p:sldId id="260" r:id="rId7"/>
    <p:sldId id="261" r:id="rId8"/>
    <p:sldId id="281" r:id="rId9"/>
    <p:sldId id="262" r:id="rId10"/>
    <p:sldId id="278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B9BA3-B9B2-4515-AE82-B17705FF6C7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0C9CA-F8AD-4494-B8D7-149F725CF2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45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87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82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9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52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46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98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04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56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87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71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05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16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65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02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35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02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78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51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4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04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7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BCE3-C95D-FA6D-B4BC-68D6FC9AF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B7252-84A6-418D-AF2A-1E9C687BC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13F2A-8E5A-DE6F-F1F6-E13FF069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D925F-F878-8E1D-415E-FC9A6E32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C269C-EA3C-17EA-EE16-281D4EC8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011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6EF0-DA02-1AAD-630C-509D6101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90F4-7899-A93E-E980-211A6AA5A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E5667-DED9-B855-A606-068194C1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A7600-D6E0-BF60-799F-ED67DAC0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DF03F-8B63-28DE-9D7C-C3978F43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04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BD47-C006-E11A-A6C0-47E7DD1F9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96795-0EE3-3F60-DED9-61E702264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F8B49-DCA1-BF9A-0294-5CEC2159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8959D-7FDC-081E-7161-D88454C50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9D43A-078D-09A9-9B9C-A02F9405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45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29E2-2A84-EA9D-B138-8B253915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4D121-066B-BA03-A4C3-41C876AC0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8C2EE-6F91-4026-D06A-8C93B4480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FD608-2A3A-E95A-F2AB-41049D992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F4244-22D0-D9DA-DC64-6E4B6549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ED0B4-B921-61EE-D8CD-117E9897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87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780E5-9C7C-C3CF-EF14-5AFC7193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1890E-56C4-C001-22F8-D0CA2D64B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6B98F-60CA-4C86-3C82-5F97832D2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DF7A1-DAAE-1BCE-CA99-56B239571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F1D95-DE01-74E4-210E-694E61C7E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EE5A2-F252-9DFE-D767-D5B8B102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4C78B3-3EAD-D8AB-46A0-AC29444A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719BD-217E-9410-6F94-D942558D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27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E038-5DA7-27FF-E2BC-10AC04D0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BDEBC-7C63-6E3C-B861-19157D50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5C4A9-3094-81FC-5838-1B0EA95E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A6130-7751-3C58-7A75-808CF10F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59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75543-0DED-26EA-DC49-AE8E4ADE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97833F-8D96-7F83-C2A2-4CD47F1B2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8188-3DC0-12CA-A85A-685E6112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95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7C59-F2D5-125D-E97A-D511969F6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CC47B-74B8-8DBA-A5AC-77CC36F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B756E-F84C-2107-B5AC-ABDE0FAD3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C5E2F-E9A5-3CBB-9972-8F4BF924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73520-662C-4DC6-4653-8296B2B3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262F8-A66F-6881-2541-191017FE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58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44C7-66ED-A36C-9326-6A93E5AD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C6CEB4-988A-AAA0-C7F7-CDF086902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86A51-A48B-7BEA-1A30-5560C42D9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9C90E-AA2B-75AB-6ABF-9855A7C5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B451B-4BB5-7FE8-CC2E-8B167357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15BDA-C856-52C2-B82A-33A211DA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64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D96F-BEC0-C9D1-18A2-315ABAC7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66972-85D1-99F1-2750-C052FF330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EF71F-8265-BCCC-1D86-CC7922EB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55F41-F0FE-2F69-119B-BFD8805B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D3AC5-81D0-6D7D-7D8E-732B2EFD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01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425F6-6780-541D-809F-43F31702E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E8206-F6E5-59DF-C5C5-27F92D0AE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44DC4-759F-CF9A-6523-497857F3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36BE-9440-8E6C-4672-3D8BC6D3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CE18-174D-05FF-272E-CED28F49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609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52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17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36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70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47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30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76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19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98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0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7A8C3-5907-8D33-3527-919A7DFB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5CBAF-ACD5-8CFE-1E72-6EB52AA45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A682B-313C-4958-5D8B-71418A4F6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D1BFC-A77B-4323-A4F2-B95A1A3B51A2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A175B-BD03-FC61-1AE9-DE7163426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8F93-55B8-23A3-A81D-897C17709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66C5C-57D7-4AEC-9459-50CE41434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75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61A266D-7874-E295-97D9-B96AE0DA1184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pPr algn="ctr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B6B855-A8D2-58E1-232B-0D9DD4540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45" y="255128"/>
            <a:ext cx="11670890" cy="634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4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390055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Evolving Landscape of Document Interaction</a:t>
            </a:r>
            <a:endParaRPr lang="en-US" sz="370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92" y="2949377"/>
            <a:ext cx="567035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4767" y="294937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Rise of LLMs</a:t>
            </a:r>
            <a:endParaRPr lang="en-US" sz="1833" dirty="0"/>
          </a:p>
        </p:txBody>
      </p:sp>
      <p:sp>
        <p:nvSpPr>
          <p:cNvPr id="5" name="Text 2"/>
          <p:cNvSpPr/>
          <p:nvPr/>
        </p:nvSpPr>
        <p:spPr>
          <a:xfrm>
            <a:off x="1464767" y="3358059"/>
            <a:ext cx="266223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 Language Models have revolutionized natural language interfaces, offering unprecedented capabilities in search, summarization, and question-answering.</a:t>
            </a:r>
            <a:endParaRPr lang="en-US" sz="145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244" y="2949377"/>
            <a:ext cx="567035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6520" y="294937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PDF Challenge</a:t>
            </a:r>
            <a:endParaRPr lang="en-US" sz="1833" dirty="0"/>
          </a:p>
        </p:txBody>
      </p:sp>
      <p:sp>
        <p:nvSpPr>
          <p:cNvPr id="8" name="Text 4"/>
          <p:cNvSpPr/>
          <p:nvPr/>
        </p:nvSpPr>
        <p:spPr>
          <a:xfrm>
            <a:off x="5166519" y="3358059"/>
            <a:ext cx="266223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PDFs, the standard for academic, legal, and financial documents, pose significant hurdles for AI due to their complex layouts and structured content.</a:t>
            </a:r>
            <a:endParaRPr lang="en-US" sz="1458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996" y="2949377"/>
            <a:ext cx="567035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68271" y="2949377"/>
            <a:ext cx="266223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Need for Grounding</a:t>
            </a:r>
            <a:endParaRPr lang="en-US" sz="1833" dirty="0"/>
          </a:p>
        </p:txBody>
      </p:sp>
      <p:sp>
        <p:nvSpPr>
          <p:cNvPr id="11" name="Text 6"/>
          <p:cNvSpPr/>
          <p:nvPr/>
        </p:nvSpPr>
        <p:spPr>
          <a:xfrm>
            <a:off x="8868271" y="3653334"/>
            <a:ext cx="266223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Document-centric tasks demand answers strictly rooted in the file's content, preventing reliance on general training data for accuracy.</a:t>
            </a:r>
            <a:endParaRPr lang="en-US" sz="1458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51ED4B-A62A-5801-BA39-C906B7036DBD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32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0ACE71-EC71-3328-7ABC-48A4581DF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197152"/>
            <a:ext cx="11071123" cy="6463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722F7F-5C35-D8B9-8EDE-E9B52C68C7C7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59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650306"/>
            <a:ext cx="1028074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Bridging the Gap in Current AI Capabilities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61492" y="2902446"/>
            <a:ext cx="3496965" cy="2305248"/>
          </a:xfrm>
          <a:prstGeom prst="roundRect">
            <a:avLst>
              <a:gd name="adj" fmla="val 5289"/>
            </a:avLst>
          </a:prstGeom>
          <a:solidFill>
            <a:srgbClr val="FAFFFA"/>
          </a:solidFill>
          <a:ln/>
        </p:spPr>
      </p:sp>
      <p:sp>
        <p:nvSpPr>
          <p:cNvPr id="4" name="Shape 2"/>
          <p:cNvSpPr/>
          <p:nvPr/>
        </p:nvSpPr>
        <p:spPr>
          <a:xfrm>
            <a:off x="661492" y="2877046"/>
            <a:ext cx="3496965" cy="10160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5" name="Shape 3"/>
          <p:cNvSpPr/>
          <p:nvPr/>
        </p:nvSpPr>
        <p:spPr>
          <a:xfrm>
            <a:off x="2126407" y="2618978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6468" y="2789040"/>
            <a:ext cx="226814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5904" y="3374926"/>
            <a:ext cx="2572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Semantic Limitations</a:t>
            </a:r>
            <a:endParaRPr lang="en-US" sz="1833" dirty="0"/>
          </a:p>
        </p:txBody>
      </p:sp>
      <p:sp>
        <p:nvSpPr>
          <p:cNvPr id="8" name="Text 5"/>
          <p:cNvSpPr/>
          <p:nvPr/>
        </p:nvSpPr>
        <p:spPr>
          <a:xfrm>
            <a:off x="875903" y="3783608"/>
            <a:ext cx="30681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 keyword searches often miss the user's true intent, leading to irrelevant or incomplete results.</a:t>
            </a:r>
            <a:endParaRPr lang="en-US" sz="1458" dirty="0"/>
          </a:p>
        </p:txBody>
      </p:sp>
      <p:sp>
        <p:nvSpPr>
          <p:cNvPr id="9" name="Shape 6"/>
          <p:cNvSpPr/>
          <p:nvPr/>
        </p:nvSpPr>
        <p:spPr>
          <a:xfrm>
            <a:off x="4347468" y="2902446"/>
            <a:ext cx="3496965" cy="2305248"/>
          </a:xfrm>
          <a:prstGeom prst="roundRect">
            <a:avLst>
              <a:gd name="adj" fmla="val 5289"/>
            </a:avLst>
          </a:prstGeom>
          <a:solidFill>
            <a:srgbClr val="FAFFFA"/>
          </a:solidFill>
          <a:ln/>
        </p:spPr>
      </p:sp>
      <p:sp>
        <p:nvSpPr>
          <p:cNvPr id="10" name="Shape 7"/>
          <p:cNvSpPr/>
          <p:nvPr/>
        </p:nvSpPr>
        <p:spPr>
          <a:xfrm>
            <a:off x="4347468" y="2877046"/>
            <a:ext cx="3496965" cy="10160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1" name="Shape 8"/>
          <p:cNvSpPr/>
          <p:nvPr/>
        </p:nvSpPr>
        <p:spPr>
          <a:xfrm>
            <a:off x="5812383" y="2618978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445" y="2789040"/>
            <a:ext cx="226814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1880" y="337492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Privacy Risks</a:t>
            </a:r>
            <a:endParaRPr lang="en-US" sz="1833" dirty="0"/>
          </a:p>
        </p:txBody>
      </p:sp>
      <p:sp>
        <p:nvSpPr>
          <p:cNvPr id="14" name="Text 10"/>
          <p:cNvSpPr/>
          <p:nvPr/>
        </p:nvSpPr>
        <p:spPr>
          <a:xfrm>
            <a:off x="4561880" y="3783608"/>
            <a:ext cx="30681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Many AI solutions utilize external cloud APIs, creating security vulnerabilities for sensitive or confidential data.</a:t>
            </a:r>
            <a:endParaRPr lang="en-US" sz="1458" dirty="0"/>
          </a:p>
        </p:txBody>
      </p:sp>
      <p:sp>
        <p:nvSpPr>
          <p:cNvPr id="15" name="Shape 11"/>
          <p:cNvSpPr/>
          <p:nvPr/>
        </p:nvSpPr>
        <p:spPr>
          <a:xfrm>
            <a:off x="8033444" y="2902446"/>
            <a:ext cx="3496965" cy="2305248"/>
          </a:xfrm>
          <a:prstGeom prst="roundRect">
            <a:avLst>
              <a:gd name="adj" fmla="val 5289"/>
            </a:avLst>
          </a:prstGeom>
          <a:solidFill>
            <a:srgbClr val="FAFF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033444" y="2877046"/>
            <a:ext cx="3496965" cy="10160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7" name="Shape 13"/>
          <p:cNvSpPr/>
          <p:nvPr/>
        </p:nvSpPr>
        <p:spPr>
          <a:xfrm>
            <a:off x="9498360" y="2618978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8421" y="2789040"/>
            <a:ext cx="226814" cy="22681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47856" y="337492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Hallucinations</a:t>
            </a:r>
            <a:endParaRPr lang="en-US" sz="1833" dirty="0"/>
          </a:p>
        </p:txBody>
      </p:sp>
      <p:sp>
        <p:nvSpPr>
          <p:cNvPr id="20" name="Text 15"/>
          <p:cNvSpPr/>
          <p:nvPr/>
        </p:nvSpPr>
        <p:spPr>
          <a:xfrm>
            <a:off x="8247856" y="3783608"/>
            <a:ext cx="30681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LLM assistants frequently generate plausible but entirely fabricated information, undermining trust and reliability.</a:t>
            </a:r>
            <a:endParaRPr lang="en-US" sz="1458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1EA3D7-1B1D-CD7D-6565-9FFB038FB718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65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D7FF89-DDA2-F31B-F7DB-9FC31803A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81"/>
            <a:ext cx="12192000" cy="66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24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420B166-5E0E-36DF-8859-720D08B365D3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39D862-1DDA-C549-DCBE-195673AB4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0" y="305862"/>
            <a:ext cx="11533238" cy="624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87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390055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Motivation: The Drive for a Secure and Accountable AI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36092" y="2923977"/>
            <a:ext cx="50800" cy="2569269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4" name="Text 2"/>
          <p:cNvSpPr/>
          <p:nvPr/>
        </p:nvSpPr>
        <p:spPr>
          <a:xfrm>
            <a:off x="901304" y="294937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Privacy-First AI</a:t>
            </a:r>
            <a:endParaRPr lang="en-US" sz="1833" dirty="0"/>
          </a:p>
        </p:txBody>
      </p:sp>
      <p:sp>
        <p:nvSpPr>
          <p:cNvPr id="5" name="Text 3"/>
          <p:cNvSpPr/>
          <p:nvPr/>
        </p:nvSpPr>
        <p:spPr>
          <a:xfrm>
            <a:off x="901304" y="3358059"/>
            <a:ext cx="322570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There is a critical need for systems that operate entirely offline, ensuring sensitive documents never leave the user's local machine and maintaining absolute confidentiality.</a:t>
            </a:r>
            <a:endParaRPr lang="en-US" sz="1458" dirty="0"/>
          </a:p>
        </p:txBody>
      </p:sp>
      <p:sp>
        <p:nvSpPr>
          <p:cNvPr id="6" name="Shape 4"/>
          <p:cNvSpPr/>
          <p:nvPr/>
        </p:nvSpPr>
        <p:spPr>
          <a:xfrm>
            <a:off x="4337844" y="2923977"/>
            <a:ext cx="50800" cy="2569269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4603056" y="2949377"/>
            <a:ext cx="23988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Accountability in AI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4603056" y="3358059"/>
            <a:ext cx="322570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high-stakes domains such as law and compliance, AI systems must provide verifiable, evidence-grounded answers to ensure accountability and mitigate risks.</a:t>
            </a:r>
            <a:endParaRPr lang="en-US" sz="1458" dirty="0"/>
          </a:p>
        </p:txBody>
      </p:sp>
      <p:sp>
        <p:nvSpPr>
          <p:cNvPr id="9" name="Shape 7"/>
          <p:cNvSpPr/>
          <p:nvPr/>
        </p:nvSpPr>
        <p:spPr>
          <a:xfrm>
            <a:off x="8039596" y="2923977"/>
            <a:ext cx="50800" cy="2569269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8304808" y="2949377"/>
            <a:ext cx="322570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Control &amp; Data Adherence</a:t>
            </a:r>
            <a:endParaRPr lang="en-US" sz="1833" dirty="0"/>
          </a:p>
        </p:txBody>
      </p:sp>
      <p:sp>
        <p:nvSpPr>
          <p:cNvPr id="11" name="Text 9"/>
          <p:cNvSpPr/>
          <p:nvPr/>
        </p:nvSpPr>
        <p:spPr>
          <a:xfrm>
            <a:off x="8304808" y="3653334"/>
            <a:ext cx="322570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require a solution that seamlessly combines the power of advanced LLMs with strict adherence to their own provided data, giving them complete control over their information.</a:t>
            </a:r>
            <a:endParaRPr lang="en-US" sz="1458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A1F63-93BA-4060-E349-F46CACDBA5D3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89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2AC04-CEDC-0201-8D54-AB55E5D17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6763"/>
            <a:ext cx="11670890" cy="62040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FC6FE4-0E34-13FF-7A19-CFA6AE0960EC}"/>
              </a:ext>
            </a:extLst>
          </p:cNvPr>
          <p:cNvSpPr txBox="1"/>
          <p:nvPr/>
        </p:nvSpPr>
        <p:spPr>
          <a:xfrm>
            <a:off x="10285141" y="6476571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415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7877" y="532111"/>
            <a:ext cx="976412" cy="338534"/>
          </a:xfrm>
          <a:prstGeom prst="roundRect">
            <a:avLst>
              <a:gd name="adj" fmla="val 38766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47217" y="586780"/>
            <a:ext cx="75773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125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OBJECTIVE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637878" y="940892"/>
            <a:ext cx="10916245" cy="113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58"/>
              </a:lnSpc>
            </a:pPr>
            <a:r>
              <a:rPr lang="en-US" sz="3583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Developing an Offline, Evidence-Based Conversational Assistant</a:t>
            </a:r>
            <a:endParaRPr lang="en-US" sz="3583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8" y="2343745"/>
            <a:ext cx="911324" cy="1327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4919" y="2526010"/>
            <a:ext cx="3763963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92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Offline Conversational Assistant</a:t>
            </a:r>
            <a:endParaRPr lang="en-US" sz="1792" dirty="0"/>
          </a:p>
        </p:txBody>
      </p:sp>
      <p:sp>
        <p:nvSpPr>
          <p:cNvPr id="7" name="Text 4"/>
          <p:cNvSpPr/>
          <p:nvPr/>
        </p:nvSpPr>
        <p:spPr>
          <a:xfrm>
            <a:off x="1724918" y="2916139"/>
            <a:ext cx="9829205" cy="572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 a system that enables natural language interaction with PDFs without internet dependency, providing instant, secure access to information.</a:t>
            </a:r>
            <a:endParaRPr lang="en-US" sz="141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8" y="3671094"/>
            <a:ext cx="911324" cy="13273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24919" y="3853359"/>
            <a:ext cx="3180854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92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Evidence-Based Generation</a:t>
            </a:r>
            <a:endParaRPr lang="en-US" sz="1792" dirty="0"/>
          </a:p>
        </p:txBody>
      </p:sp>
      <p:sp>
        <p:nvSpPr>
          <p:cNvPr id="10" name="Text 6"/>
          <p:cNvSpPr/>
          <p:nvPr/>
        </p:nvSpPr>
        <p:spPr>
          <a:xfrm>
            <a:off x="1724918" y="4243487"/>
            <a:ext cx="9829205" cy="572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Minimize hallucinations by strictly grounding all responses in the uploaded document content, ensuring accuracy and reliability.</a:t>
            </a:r>
            <a:endParaRPr lang="en-US" sz="141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8" y="4998443"/>
            <a:ext cx="911324" cy="13273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24919" y="5180707"/>
            <a:ext cx="2381944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92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Local Infrastructure</a:t>
            </a:r>
            <a:endParaRPr lang="en-US" sz="1792" dirty="0"/>
          </a:p>
        </p:txBody>
      </p:sp>
      <p:sp>
        <p:nvSpPr>
          <p:cNvPr id="13" name="Text 8"/>
          <p:cNvSpPr/>
          <p:nvPr/>
        </p:nvSpPr>
        <p:spPr>
          <a:xfrm>
            <a:off x="1724918" y="5570835"/>
            <a:ext cx="9829205" cy="572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 complete data privacy and security by processing all data exclusively on local hardware, protecting sensitive information.</a:t>
            </a:r>
            <a:endParaRPr lang="en-US" sz="141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2666A6-544B-F9D5-7063-9F86BD604B4A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106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DF30D-1B33-8ACD-88FD-D86E354580E0}"/>
              </a:ext>
            </a:extLst>
          </p:cNvPr>
          <p:cNvSpPr txBox="1"/>
          <p:nvPr/>
        </p:nvSpPr>
        <p:spPr>
          <a:xfrm>
            <a:off x="1071716" y="688258"/>
            <a:ext cx="4208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ARCHITECTURE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E1DEB-0CD2-CE50-BC21-C0364786B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58" y="1560798"/>
            <a:ext cx="7678994" cy="4309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28B4BB-D2E3-276D-3CDF-B22154F44A9F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048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3037" y="534790"/>
            <a:ext cx="1757858" cy="342106"/>
          </a:xfrm>
          <a:prstGeom prst="roundRect">
            <a:avLst>
              <a:gd name="adj" fmla="val 38672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53270" y="589856"/>
            <a:ext cx="1537394" cy="23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125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SPECIFIC OBJECTIVES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643037" y="948333"/>
            <a:ext cx="7943850" cy="57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00"/>
              </a:lnSpc>
            </a:pPr>
            <a:r>
              <a:rPr lang="en-US" sz="3583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Technical Goals for IntelliDoc</a:t>
            </a:r>
            <a:endParaRPr lang="en-US" sz="3583" dirty="0"/>
          </a:p>
        </p:txBody>
      </p:sp>
      <p:sp>
        <p:nvSpPr>
          <p:cNvPr id="5" name="Shape 3"/>
          <p:cNvSpPr/>
          <p:nvPr/>
        </p:nvSpPr>
        <p:spPr>
          <a:xfrm>
            <a:off x="643037" y="1790403"/>
            <a:ext cx="5363667" cy="551160"/>
          </a:xfrm>
          <a:prstGeom prst="roundRect">
            <a:avLst>
              <a:gd name="adj" fmla="val 480075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3187105" y="1893689"/>
            <a:ext cx="275531" cy="34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2167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167" dirty="0"/>
          </a:p>
        </p:txBody>
      </p:sp>
      <p:sp>
        <p:nvSpPr>
          <p:cNvPr id="7" name="Text 5"/>
          <p:cNvSpPr/>
          <p:nvPr/>
        </p:nvSpPr>
        <p:spPr>
          <a:xfrm>
            <a:off x="826691" y="2520157"/>
            <a:ext cx="2485827" cy="287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Context Preservation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826691" y="2914353"/>
            <a:ext cx="4996358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Extract text while meticulously maintaining page-level structure to improve traceability and ensure accurate referencing.</a:t>
            </a:r>
            <a:endParaRPr lang="en-US" sz="1417" dirty="0"/>
          </a:p>
        </p:txBody>
      </p:sp>
      <p:sp>
        <p:nvSpPr>
          <p:cNvPr id="9" name="Shape 7"/>
          <p:cNvSpPr/>
          <p:nvPr/>
        </p:nvSpPr>
        <p:spPr>
          <a:xfrm>
            <a:off x="6185297" y="1790403"/>
            <a:ext cx="5363667" cy="551160"/>
          </a:xfrm>
          <a:prstGeom prst="roundRect">
            <a:avLst>
              <a:gd name="adj" fmla="val 480075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8729365" y="1893689"/>
            <a:ext cx="275531" cy="34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2167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167" dirty="0"/>
          </a:p>
        </p:txBody>
      </p:sp>
      <p:sp>
        <p:nvSpPr>
          <p:cNvPr id="11" name="Text 9"/>
          <p:cNvSpPr/>
          <p:nvPr/>
        </p:nvSpPr>
        <p:spPr>
          <a:xfrm>
            <a:off x="6368951" y="2520157"/>
            <a:ext cx="3210619" cy="287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Local Inference Integration</a:t>
            </a:r>
            <a:endParaRPr lang="en-US" sz="1792" dirty="0"/>
          </a:p>
        </p:txBody>
      </p:sp>
      <p:sp>
        <p:nvSpPr>
          <p:cNvPr id="12" name="Text 10"/>
          <p:cNvSpPr/>
          <p:nvPr/>
        </p:nvSpPr>
        <p:spPr>
          <a:xfrm>
            <a:off x="6368951" y="2914353"/>
            <a:ext cx="4996358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the Qwen3-VL (4B) vision-language model via Ollama for efficient, high-performance offline processing.</a:t>
            </a:r>
            <a:endParaRPr lang="en-US" sz="1417" dirty="0"/>
          </a:p>
        </p:txBody>
      </p:sp>
      <p:sp>
        <p:nvSpPr>
          <p:cNvPr id="13" name="Shape 11"/>
          <p:cNvSpPr/>
          <p:nvPr/>
        </p:nvSpPr>
        <p:spPr>
          <a:xfrm>
            <a:off x="643037" y="4146054"/>
            <a:ext cx="5363667" cy="551160"/>
          </a:xfrm>
          <a:prstGeom prst="roundRect">
            <a:avLst>
              <a:gd name="adj" fmla="val 480075"/>
            </a:avLst>
          </a:prstGeom>
          <a:solidFill>
            <a:srgbClr val="E8F3E8"/>
          </a:solidFill>
          <a:ln/>
        </p:spPr>
      </p:sp>
      <p:sp>
        <p:nvSpPr>
          <p:cNvPr id="14" name="Text 12"/>
          <p:cNvSpPr/>
          <p:nvPr/>
        </p:nvSpPr>
        <p:spPr>
          <a:xfrm>
            <a:off x="3187105" y="4249341"/>
            <a:ext cx="275531" cy="34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2167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167" dirty="0"/>
          </a:p>
        </p:txBody>
      </p:sp>
      <p:sp>
        <p:nvSpPr>
          <p:cNvPr id="15" name="Text 13"/>
          <p:cNvSpPr/>
          <p:nvPr/>
        </p:nvSpPr>
        <p:spPr>
          <a:xfrm>
            <a:off x="826691" y="4875808"/>
            <a:ext cx="2579291" cy="287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Controlled Prompting</a:t>
            </a:r>
            <a:endParaRPr lang="en-US" sz="1792" dirty="0"/>
          </a:p>
        </p:txBody>
      </p:sp>
      <p:sp>
        <p:nvSpPr>
          <p:cNvPr id="16" name="Text 14"/>
          <p:cNvSpPr/>
          <p:nvPr/>
        </p:nvSpPr>
        <p:spPr>
          <a:xfrm>
            <a:off x="826691" y="5270005"/>
            <a:ext cx="4996358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robust mechanisms that restrict the model to answer solely using the provided document text, preventing fabrication.</a:t>
            </a:r>
            <a:endParaRPr lang="en-US" sz="1417" dirty="0"/>
          </a:p>
        </p:txBody>
      </p:sp>
      <p:sp>
        <p:nvSpPr>
          <p:cNvPr id="17" name="Shape 15"/>
          <p:cNvSpPr/>
          <p:nvPr/>
        </p:nvSpPr>
        <p:spPr>
          <a:xfrm>
            <a:off x="6185297" y="4146054"/>
            <a:ext cx="5363667" cy="551160"/>
          </a:xfrm>
          <a:prstGeom prst="roundRect">
            <a:avLst>
              <a:gd name="adj" fmla="val 480075"/>
            </a:avLst>
          </a:prstGeom>
          <a:solidFill>
            <a:srgbClr val="E8F3E8"/>
          </a:solidFill>
          <a:ln/>
        </p:spPr>
      </p:sp>
      <p:sp>
        <p:nvSpPr>
          <p:cNvPr id="18" name="Text 16"/>
          <p:cNvSpPr/>
          <p:nvPr/>
        </p:nvSpPr>
        <p:spPr>
          <a:xfrm>
            <a:off x="8729365" y="4249341"/>
            <a:ext cx="275531" cy="34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2167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2167" dirty="0"/>
          </a:p>
        </p:txBody>
      </p:sp>
      <p:sp>
        <p:nvSpPr>
          <p:cNvPr id="19" name="Text 17"/>
          <p:cNvSpPr/>
          <p:nvPr/>
        </p:nvSpPr>
        <p:spPr>
          <a:xfrm>
            <a:off x="6368951" y="4875808"/>
            <a:ext cx="3157835" cy="287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Transparency in Reporting</a:t>
            </a:r>
            <a:endParaRPr lang="en-US" sz="1792" dirty="0"/>
          </a:p>
        </p:txBody>
      </p:sp>
      <p:sp>
        <p:nvSpPr>
          <p:cNvPr id="20" name="Text 18"/>
          <p:cNvSpPr/>
          <p:nvPr/>
        </p:nvSpPr>
        <p:spPr>
          <a:xfrm>
            <a:off x="6368951" y="5270005"/>
            <a:ext cx="4996358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Explicitly report when information is absent within the document rather than generating a fabricated answer, building user trust.</a:t>
            </a:r>
            <a:endParaRPr lang="en-US" sz="1417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6B10D-28B4-6CC0-2AEB-688DD93E6011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200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403945"/>
            <a:ext cx="1388468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9" y="1460599"/>
            <a:ext cx="1161653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SCOPE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834754"/>
            <a:ext cx="941982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IntelliDoc: Capabilities and Limitations</a:t>
            </a:r>
            <a:endParaRPr lang="en-US" sz="3708" dirty="0"/>
          </a:p>
        </p:txBody>
      </p:sp>
      <p:sp>
        <p:nvSpPr>
          <p:cNvPr id="5" name="Text 3"/>
          <p:cNvSpPr/>
          <p:nvPr/>
        </p:nvSpPr>
        <p:spPr>
          <a:xfrm>
            <a:off x="661492" y="2897882"/>
            <a:ext cx="292685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Current Capabilities</a:t>
            </a:r>
            <a:endParaRPr lang="en-US" sz="2208" dirty="0"/>
          </a:p>
        </p:txBody>
      </p:sp>
      <p:sp>
        <p:nvSpPr>
          <p:cNvPr id="6" name="Text 4"/>
          <p:cNvSpPr/>
          <p:nvPr/>
        </p:nvSpPr>
        <p:spPr>
          <a:xfrm>
            <a:off x="661492" y="3441304"/>
            <a:ext cx="5203924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Input Support: Designed for single format, text-based PDF documents.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Operational Environment: Fully offline; no reliance on external cloud services or APIs.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 Domains: Optimized for education, legal analysis, research, and compliance verification.</a:t>
            </a:r>
            <a:endParaRPr lang="en-US" sz="1458" dirty="0"/>
          </a:p>
        </p:txBody>
      </p:sp>
      <p:sp>
        <p:nvSpPr>
          <p:cNvPr id="7" name="Text 5"/>
          <p:cNvSpPr/>
          <p:nvPr/>
        </p:nvSpPr>
        <p:spPr>
          <a:xfrm>
            <a:off x="6332935" y="2897882"/>
            <a:ext cx="289123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Current Limitations</a:t>
            </a:r>
            <a:endParaRPr lang="en-US" sz="2208" dirty="0"/>
          </a:p>
        </p:txBody>
      </p:sp>
      <p:sp>
        <p:nvSpPr>
          <p:cNvPr id="8" name="Text 6"/>
          <p:cNvSpPr/>
          <p:nvPr/>
        </p:nvSpPr>
        <p:spPr>
          <a:xfrm>
            <a:off x="6332935" y="3441303"/>
            <a:ext cx="5203924" cy="90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Does not support OCR for image-only PDFs.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Does not support multi-format document knowledge bases for broader searches.</a:t>
            </a:r>
            <a:endParaRPr lang="en-US" sz="1458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D61F4-A208-84B7-64A2-7365F01A2153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934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007567"/>
            <a:ext cx="1019274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8" y="1064220"/>
            <a:ext cx="79246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OVERVIEW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438374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Document Question Answering: 2023-2025 Survey</a:t>
            </a:r>
            <a:endParaRPr lang="en-US" sz="3708" dirty="0"/>
          </a:p>
        </p:txBody>
      </p:sp>
      <p:sp>
        <p:nvSpPr>
          <p:cNvPr id="5" name="Shape 3"/>
          <p:cNvSpPr/>
          <p:nvPr/>
        </p:nvSpPr>
        <p:spPr>
          <a:xfrm>
            <a:off x="661492" y="2903141"/>
            <a:ext cx="3496965" cy="2947293"/>
          </a:xfrm>
          <a:prstGeom prst="roundRect">
            <a:avLst>
              <a:gd name="adj" fmla="val 577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5904" y="311755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Research Scope</a:t>
            </a:r>
            <a:endParaRPr lang="en-US" sz="1833" dirty="0"/>
          </a:p>
        </p:txBody>
      </p:sp>
      <p:sp>
        <p:nvSpPr>
          <p:cNvPr id="7" name="Text 5"/>
          <p:cNvSpPr/>
          <p:nvPr/>
        </p:nvSpPr>
        <p:spPr>
          <a:xfrm>
            <a:off x="875903" y="3526234"/>
            <a:ext cx="30681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Analyzed 15 recent research papers focusing on Document Question Answering (DQA) and Retrieval-Augmented Generation (RAG) to identify key trends and emerging technologies.</a:t>
            </a:r>
            <a:endParaRPr lang="en-US" sz="1458" dirty="0"/>
          </a:p>
        </p:txBody>
      </p:sp>
      <p:sp>
        <p:nvSpPr>
          <p:cNvPr id="8" name="Shape 6"/>
          <p:cNvSpPr/>
          <p:nvPr/>
        </p:nvSpPr>
        <p:spPr>
          <a:xfrm>
            <a:off x="4347468" y="2903141"/>
            <a:ext cx="3496965" cy="2947293"/>
          </a:xfrm>
          <a:prstGeom prst="roundRect">
            <a:avLst>
              <a:gd name="adj" fmla="val 577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1880" y="3117553"/>
            <a:ext cx="30681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Trend: Groundedness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4561880" y="3821509"/>
            <a:ext cx="30681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distinct shift from pure language generation toward "groundedness" and evidence-based systems to combat hallucinations and ensure factual accuracy.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8033444" y="2903141"/>
            <a:ext cx="3496965" cy="2947293"/>
          </a:xfrm>
          <a:prstGeom prst="roundRect">
            <a:avLst>
              <a:gd name="adj" fmla="val 577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56" y="3117553"/>
            <a:ext cx="30681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Emerging Tech: Multimodal RAG</a:t>
            </a:r>
            <a:endParaRPr lang="en-US" sz="1833" dirty="0"/>
          </a:p>
        </p:txBody>
      </p:sp>
      <p:sp>
        <p:nvSpPr>
          <p:cNvPr id="13" name="Text 11"/>
          <p:cNvSpPr/>
          <p:nvPr/>
        </p:nvSpPr>
        <p:spPr>
          <a:xfrm>
            <a:off x="8247856" y="3821510"/>
            <a:ext cx="30681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Growing focus on "Multimodal RAG" to handle complex document elements like tables, charts, and images, enhancing comprehensive understanding.</a:t>
            </a:r>
            <a:endParaRPr lang="en-US" sz="1458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43B30-F8D3-744D-EEE1-5468681F297B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8680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517254"/>
            <a:ext cx="1297682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9" y="1573907"/>
            <a:ext cx="1070868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FINDINGS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948061"/>
            <a:ext cx="935890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Enhanced Capabilities in DQA and RAG</a:t>
            </a:r>
            <a:endParaRPr lang="en-US" sz="3708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92" y="2822178"/>
            <a:ext cx="472480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0211" y="2822178"/>
            <a:ext cx="27567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Retrieval Augmentation</a:t>
            </a:r>
            <a:endParaRPr lang="en-US" sz="1833" dirty="0"/>
          </a:p>
        </p:txBody>
      </p:sp>
      <p:sp>
        <p:nvSpPr>
          <p:cNvPr id="7" name="Text 4"/>
          <p:cNvSpPr/>
          <p:nvPr/>
        </p:nvSpPr>
        <p:spPr>
          <a:xfrm>
            <a:off x="1370211" y="3526135"/>
            <a:ext cx="275679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Injecting relevant document segments into the prompt significantly improves factual correctness and contextual relevance of generated responses.</a:t>
            </a:r>
            <a:endParaRPr lang="en-US" sz="1458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244" y="2822178"/>
            <a:ext cx="472480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1964" y="2822178"/>
            <a:ext cx="27567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Advanced Prompting Strategies</a:t>
            </a:r>
            <a:endParaRPr lang="en-US" sz="1833" dirty="0"/>
          </a:p>
        </p:txBody>
      </p:sp>
      <p:sp>
        <p:nvSpPr>
          <p:cNvPr id="10" name="Text 6"/>
          <p:cNvSpPr/>
          <p:nvPr/>
        </p:nvSpPr>
        <p:spPr>
          <a:xfrm>
            <a:off x="5071964" y="3526135"/>
            <a:ext cx="275679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Techniques like "Chain-of-Evidence" prompting successfully enforce reliability, trace information back to its source, and reduce misinformation risks.</a:t>
            </a:r>
            <a:endParaRPr lang="en-US" sz="1458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996" y="2822178"/>
            <a:ext cx="472480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73716" y="2822178"/>
            <a:ext cx="27567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Structured Understanding</a:t>
            </a:r>
            <a:endParaRPr lang="en-US" sz="1833" dirty="0"/>
          </a:p>
        </p:txBody>
      </p:sp>
      <p:sp>
        <p:nvSpPr>
          <p:cNvPr id="13" name="Text 8"/>
          <p:cNvSpPr/>
          <p:nvPr/>
        </p:nvSpPr>
        <p:spPr>
          <a:xfrm>
            <a:off x="8773716" y="3526135"/>
            <a:ext cx="275679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 models (2024-2025) are better at comprehending visually rich documents, moving beyond raw text to interpret complex layouts and data representations.</a:t>
            </a:r>
            <a:endParaRPr lang="en-US" sz="1458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667CD1-787A-2D8A-A5F0-A52E51B4DE83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427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155204"/>
            <a:ext cx="1297682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9" y="1211858"/>
            <a:ext cx="1070868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FINDINGS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586012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Current Limitations in Document Question Answering and RAG Systems</a:t>
            </a:r>
            <a:endParaRPr lang="en-US" sz="3708" dirty="0"/>
          </a:p>
        </p:txBody>
      </p:sp>
      <p:sp>
        <p:nvSpPr>
          <p:cNvPr id="5" name="Shape 3"/>
          <p:cNvSpPr/>
          <p:nvPr/>
        </p:nvSpPr>
        <p:spPr>
          <a:xfrm>
            <a:off x="661492" y="3050779"/>
            <a:ext cx="3496965" cy="2652018"/>
          </a:xfrm>
          <a:prstGeom prst="roundRect">
            <a:avLst>
              <a:gd name="adj" fmla="val 459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092" y="3050779"/>
            <a:ext cx="101600" cy="26520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952104" y="326519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Privacy Gaps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952103" y="3673872"/>
            <a:ext cx="29919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state-of-the-art systems still rely on cloud-based Large Language Models (LLMs), posing significant risks for handling confidential or sensitive data.</a:t>
            </a:r>
            <a:endParaRPr lang="en-US" sz="1458" dirty="0"/>
          </a:p>
        </p:txBody>
      </p:sp>
      <p:sp>
        <p:nvSpPr>
          <p:cNvPr id="9" name="Shape 7"/>
          <p:cNvSpPr/>
          <p:nvPr/>
        </p:nvSpPr>
        <p:spPr>
          <a:xfrm>
            <a:off x="4347468" y="3050779"/>
            <a:ext cx="3496965" cy="2652018"/>
          </a:xfrm>
          <a:prstGeom prst="roundRect">
            <a:avLst>
              <a:gd name="adj" fmla="val 459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2068" y="3050779"/>
            <a:ext cx="101600" cy="26520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1" name="Text 9"/>
          <p:cNvSpPr/>
          <p:nvPr/>
        </p:nvSpPr>
        <p:spPr>
          <a:xfrm>
            <a:off x="4638080" y="326519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Resource Intensity</a:t>
            </a:r>
            <a:endParaRPr lang="en-US" sz="1833" dirty="0"/>
          </a:p>
        </p:txBody>
      </p:sp>
      <p:sp>
        <p:nvSpPr>
          <p:cNvPr id="12" name="Text 10"/>
          <p:cNvSpPr/>
          <p:nvPr/>
        </p:nvSpPr>
        <p:spPr>
          <a:xfrm>
            <a:off x="4638080" y="3673872"/>
            <a:ext cx="29919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Multimodal approaches are often computationally expensive, demanding specialized hardware and significant processing power, limiting widespread accessibility.</a:t>
            </a:r>
            <a:endParaRPr lang="en-US" sz="1458" dirty="0"/>
          </a:p>
        </p:txBody>
      </p:sp>
      <p:sp>
        <p:nvSpPr>
          <p:cNvPr id="13" name="Shape 11"/>
          <p:cNvSpPr/>
          <p:nvPr/>
        </p:nvSpPr>
        <p:spPr>
          <a:xfrm>
            <a:off x="8033444" y="3050779"/>
            <a:ext cx="3496965" cy="2652018"/>
          </a:xfrm>
          <a:prstGeom prst="roundRect">
            <a:avLst>
              <a:gd name="adj" fmla="val 459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8044" y="3050779"/>
            <a:ext cx="101600" cy="26520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5" name="Text 13"/>
          <p:cNvSpPr/>
          <p:nvPr/>
        </p:nvSpPr>
        <p:spPr>
          <a:xfrm>
            <a:off x="8324057" y="326519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Offline Void</a:t>
            </a:r>
            <a:endParaRPr lang="en-US" sz="1833" dirty="0"/>
          </a:p>
        </p:txBody>
      </p:sp>
      <p:sp>
        <p:nvSpPr>
          <p:cNvPr id="16" name="Text 14"/>
          <p:cNvSpPr/>
          <p:nvPr/>
        </p:nvSpPr>
        <p:spPr>
          <a:xfrm>
            <a:off x="8324057" y="3673872"/>
            <a:ext cx="29919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There is a significant lack of research and practical solutions for fully offline, locally hosted systems designed for sensitive document analysis.</a:t>
            </a:r>
            <a:endParaRPr lang="en-US" sz="1458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5142C2-8414-986F-20E6-A350DDF7C8A2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720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2421" y="496887"/>
            <a:ext cx="1315144" cy="334467"/>
          </a:xfrm>
          <a:prstGeom prst="roundRect">
            <a:avLst>
              <a:gd name="adj" fmla="val 38901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40768" y="551061"/>
            <a:ext cx="1098451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125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SOLUTION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632420" y="900411"/>
            <a:ext cx="9475093" cy="564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3542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Modular System Design and Methodology</a:t>
            </a:r>
            <a:endParaRPr lang="en-US" sz="3542" dirty="0"/>
          </a:p>
        </p:txBody>
      </p:sp>
      <p:sp>
        <p:nvSpPr>
          <p:cNvPr id="14" name="Text 7"/>
          <p:cNvSpPr/>
          <p:nvPr/>
        </p:nvSpPr>
        <p:spPr>
          <a:xfrm>
            <a:off x="632421" y="5807373"/>
            <a:ext cx="10927159" cy="56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41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system implements a robust, four-phase methodology to ensure privacy-preserving and evidence-backed document analysis, from initial upload to final answer.</a:t>
            </a:r>
            <a:endParaRPr lang="en-US" sz="141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0EF98E-8E33-7CF0-EC7C-1828DE46F069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A075E6-D3E9-01C6-A5BA-17797BA94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9607" cy="564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12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832148"/>
            <a:ext cx="819150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9" y="888802"/>
            <a:ext cx="59233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PHASE 1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262956"/>
            <a:ext cx="893931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Document Ingestion &amp; Preprocessing</a:t>
            </a:r>
            <a:endParaRPr lang="en-US" sz="3708" dirty="0"/>
          </a:p>
        </p:txBody>
      </p:sp>
      <p:sp>
        <p:nvSpPr>
          <p:cNvPr id="5" name="Text 3"/>
          <p:cNvSpPr/>
          <p:nvPr/>
        </p:nvSpPr>
        <p:spPr>
          <a:xfrm>
            <a:off x="661492" y="2307133"/>
            <a:ext cx="407084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initial phase focuses on secure and efficient document handling, prioritizing user control and data privacy from the outset.</a:t>
            </a:r>
            <a:endParaRPr lang="en-US" sz="1458" dirty="0"/>
          </a:p>
        </p:txBody>
      </p:sp>
      <p:sp>
        <p:nvSpPr>
          <p:cNvPr id="6" name="Shape 4"/>
          <p:cNvSpPr/>
          <p:nvPr/>
        </p:nvSpPr>
        <p:spPr>
          <a:xfrm>
            <a:off x="661492" y="3729434"/>
            <a:ext cx="4070846" cy="1408013"/>
          </a:xfrm>
          <a:prstGeom prst="roundRect">
            <a:avLst>
              <a:gd name="adj" fmla="val 12082"/>
            </a:avLst>
          </a:prstGeom>
          <a:solidFill>
            <a:srgbClr val="CCE6D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3" y="4003477"/>
            <a:ext cx="236240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55" y="3965674"/>
            <a:ext cx="3267571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design choice guarantees that no user data ever leaves the local environment.</a:t>
            </a:r>
            <a:endParaRPr lang="en-US" sz="1458" dirty="0"/>
          </a:p>
        </p:txBody>
      </p:sp>
      <p:sp>
        <p:nvSpPr>
          <p:cNvPr id="9" name="Shape 6"/>
          <p:cNvSpPr/>
          <p:nvPr/>
        </p:nvSpPr>
        <p:spPr>
          <a:xfrm>
            <a:off x="5063729" y="2137073"/>
            <a:ext cx="6609159" cy="3888780"/>
          </a:xfrm>
          <a:prstGeom prst="roundRect">
            <a:avLst>
              <a:gd name="adj" fmla="val 6999"/>
            </a:avLst>
          </a:prstGeom>
          <a:solidFill>
            <a:srgbClr val="DFEEE2"/>
          </a:solidFill>
          <a:ln/>
        </p:spPr>
      </p:sp>
      <p:sp>
        <p:nvSpPr>
          <p:cNvPr id="10" name="Shape 7"/>
          <p:cNvSpPr/>
          <p:nvPr/>
        </p:nvSpPr>
        <p:spPr>
          <a:xfrm>
            <a:off x="5252740" y="2450107"/>
            <a:ext cx="94457" cy="94457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5536208" y="234969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Action</a:t>
            </a:r>
            <a:endParaRPr lang="en-US" sz="1833" dirty="0"/>
          </a:p>
        </p:txBody>
      </p:sp>
      <p:sp>
        <p:nvSpPr>
          <p:cNvPr id="12" name="Text 9"/>
          <p:cNvSpPr/>
          <p:nvPr/>
        </p:nvSpPr>
        <p:spPr>
          <a:xfrm>
            <a:off x="5536208" y="2833985"/>
            <a:ext cx="271393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upload PDF documents directly through the </a:t>
            </a:r>
            <a:r>
              <a:rPr lang="en-US" sz="1458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Streamlit</a:t>
            </a: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sidebar interface, maintaining local control.</a:t>
            </a:r>
            <a:endParaRPr lang="en-US" sz="1458" dirty="0"/>
          </a:p>
        </p:txBody>
      </p:sp>
      <p:sp>
        <p:nvSpPr>
          <p:cNvPr id="13" name="Shape 10"/>
          <p:cNvSpPr/>
          <p:nvPr/>
        </p:nvSpPr>
        <p:spPr>
          <a:xfrm>
            <a:off x="8486378" y="2450107"/>
            <a:ext cx="94457" cy="94457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8769846" y="234969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Text Extraction</a:t>
            </a:r>
            <a:endParaRPr lang="en-US" sz="1833" dirty="0"/>
          </a:p>
        </p:txBody>
      </p:sp>
      <p:sp>
        <p:nvSpPr>
          <p:cNvPr id="15" name="Text 12"/>
          <p:cNvSpPr/>
          <p:nvPr/>
        </p:nvSpPr>
        <p:spPr>
          <a:xfrm>
            <a:off x="8769846" y="2833986"/>
            <a:ext cx="27140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local PDF parsing library extracts textual content, segmenting it by page to preserve original document structure.</a:t>
            </a:r>
            <a:endParaRPr lang="en-US" sz="1458" dirty="0"/>
          </a:p>
        </p:txBody>
      </p:sp>
      <p:sp>
        <p:nvSpPr>
          <p:cNvPr id="16" name="Shape 13"/>
          <p:cNvSpPr/>
          <p:nvPr/>
        </p:nvSpPr>
        <p:spPr>
          <a:xfrm>
            <a:off x="5252740" y="4824512"/>
            <a:ext cx="94457" cy="94457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17" name="Text 14"/>
          <p:cNvSpPr/>
          <p:nvPr/>
        </p:nvSpPr>
        <p:spPr>
          <a:xfrm>
            <a:off x="5536208" y="472410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Secure Storage</a:t>
            </a:r>
            <a:endParaRPr lang="en-US" sz="1833" dirty="0"/>
          </a:p>
        </p:txBody>
      </p:sp>
      <p:sp>
        <p:nvSpPr>
          <p:cNvPr id="18" name="Text 15"/>
          <p:cNvSpPr/>
          <p:nvPr/>
        </p:nvSpPr>
        <p:spPr>
          <a:xfrm>
            <a:off x="5536208" y="5208389"/>
            <a:ext cx="59476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Extracted content is stored strictly in </a:t>
            </a:r>
            <a:r>
              <a:rPr lang="en-US" sz="1458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Session State (memory)</a:t>
            </a: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avoiding persistent storage to protect sensitive data.</a:t>
            </a:r>
            <a:endParaRPr lang="en-US" sz="1458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F7FC2B-8874-34C2-E253-7DA34185D814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970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736799"/>
            <a:ext cx="845741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8" y="793453"/>
            <a:ext cx="61892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PHASE 2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167607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Context &amp; Prompting for Grounded Responses</a:t>
            </a:r>
            <a:endParaRPr lang="en-US" sz="3708" dirty="0"/>
          </a:p>
        </p:txBody>
      </p:sp>
      <p:sp>
        <p:nvSpPr>
          <p:cNvPr id="5" name="Shape 3"/>
          <p:cNvSpPr/>
          <p:nvPr/>
        </p:nvSpPr>
        <p:spPr>
          <a:xfrm>
            <a:off x="661492" y="2915841"/>
            <a:ext cx="3496965" cy="3205361"/>
          </a:xfrm>
          <a:prstGeom prst="roundRect">
            <a:avLst>
              <a:gd name="adj" fmla="val 3804"/>
            </a:avLst>
          </a:prstGeom>
          <a:solidFill>
            <a:srgbClr val="FAFFFA"/>
          </a:solidFill>
          <a:ln/>
        </p:spPr>
      </p:sp>
      <p:sp>
        <p:nvSpPr>
          <p:cNvPr id="6" name="Shape 4"/>
          <p:cNvSpPr/>
          <p:nvPr/>
        </p:nvSpPr>
        <p:spPr>
          <a:xfrm>
            <a:off x="661492" y="2890441"/>
            <a:ext cx="3496965" cy="10160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7" name="Shape 5"/>
          <p:cNvSpPr/>
          <p:nvPr/>
        </p:nvSpPr>
        <p:spPr>
          <a:xfrm>
            <a:off x="2126407" y="2632373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sp>
        <p:nvSpPr>
          <p:cNvPr id="8" name="Text 6"/>
          <p:cNvSpPr/>
          <p:nvPr/>
        </p:nvSpPr>
        <p:spPr>
          <a:xfrm>
            <a:off x="2296468" y="2774156"/>
            <a:ext cx="22681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75903" y="3388320"/>
            <a:ext cx="29749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Unified Context Creation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875903" y="3797003"/>
            <a:ext cx="30681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dynamically combines the user's current query, the ongoing conversation history, and extracted PDF text into a single, comprehensive context block.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4347468" y="2915841"/>
            <a:ext cx="3496965" cy="3205361"/>
          </a:xfrm>
          <a:prstGeom prst="roundRect">
            <a:avLst>
              <a:gd name="adj" fmla="val 3804"/>
            </a:avLst>
          </a:prstGeom>
          <a:solidFill>
            <a:srgbClr val="FAFF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7468" y="2890441"/>
            <a:ext cx="3496965" cy="10160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2383" y="2632373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sp>
        <p:nvSpPr>
          <p:cNvPr id="14" name="Text 12"/>
          <p:cNvSpPr/>
          <p:nvPr/>
        </p:nvSpPr>
        <p:spPr>
          <a:xfrm>
            <a:off x="5982445" y="2774156"/>
            <a:ext cx="22681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561880" y="3388320"/>
            <a:ext cx="30681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Controlled System Prompt</a:t>
            </a:r>
            <a:endParaRPr lang="en-US" sz="1833" dirty="0"/>
          </a:p>
        </p:txBody>
      </p:sp>
      <p:sp>
        <p:nvSpPr>
          <p:cNvPr id="16" name="Text 14"/>
          <p:cNvSpPr/>
          <p:nvPr/>
        </p:nvSpPr>
        <p:spPr>
          <a:xfrm>
            <a:off x="4561880" y="4092278"/>
            <a:ext cx="30681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"controlled prompting mechanism" meticulously injects the document text and strictly instructs the model to use </a:t>
            </a:r>
            <a:r>
              <a:rPr lang="en-US" sz="1458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</a:t>
            </a: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this provided data for its responses.</a:t>
            </a:r>
            <a:endParaRPr lang="en-US" sz="1458" dirty="0"/>
          </a:p>
        </p:txBody>
      </p:sp>
      <p:sp>
        <p:nvSpPr>
          <p:cNvPr id="17" name="Shape 15"/>
          <p:cNvSpPr/>
          <p:nvPr/>
        </p:nvSpPr>
        <p:spPr>
          <a:xfrm>
            <a:off x="8033444" y="2915841"/>
            <a:ext cx="3496965" cy="3205361"/>
          </a:xfrm>
          <a:prstGeom prst="roundRect">
            <a:avLst>
              <a:gd name="adj" fmla="val 3804"/>
            </a:avLst>
          </a:prstGeom>
          <a:solidFill>
            <a:srgbClr val="FAFF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33444" y="2890441"/>
            <a:ext cx="3496965" cy="10160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9" name="Shape 17"/>
          <p:cNvSpPr/>
          <p:nvPr/>
        </p:nvSpPr>
        <p:spPr>
          <a:xfrm>
            <a:off x="9498360" y="2632373"/>
            <a:ext cx="567035" cy="567035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sp>
        <p:nvSpPr>
          <p:cNvPr id="20" name="Text 18"/>
          <p:cNvSpPr/>
          <p:nvPr/>
        </p:nvSpPr>
        <p:spPr>
          <a:xfrm>
            <a:off x="9668421" y="2774156"/>
            <a:ext cx="22681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r>
              <a:rPr lang="en-US" sz="17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8247856" y="3388320"/>
            <a:ext cx="27379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Strict Grounding Logic</a:t>
            </a:r>
            <a:endParaRPr lang="en-US" sz="1833" dirty="0"/>
          </a:p>
        </p:txBody>
      </p:sp>
      <p:sp>
        <p:nvSpPr>
          <p:cNvPr id="22" name="Text 20"/>
          <p:cNvSpPr/>
          <p:nvPr/>
        </p:nvSpPr>
        <p:spPr>
          <a:xfrm>
            <a:off x="8247856" y="3797003"/>
            <a:ext cx="30681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prompt explicitly forbids the model from leveraging outside knowledge, significantly reducing the potential for factual inaccuracies and hallucinations.</a:t>
            </a:r>
            <a:endParaRPr lang="en-US" sz="1458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E2808C-65AE-9A76-F972-8B3769EEAA89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648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8434" y="779562"/>
            <a:ext cx="687487" cy="269478"/>
          </a:xfrm>
          <a:prstGeom prst="roundRect">
            <a:avLst>
              <a:gd name="adj" fmla="val 40949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00311" y="825500"/>
            <a:ext cx="503733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9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PHASE 3</a:t>
            </a:r>
            <a:endParaRPr lang="en-US" sz="958" dirty="0"/>
          </a:p>
        </p:txBody>
      </p:sp>
      <p:sp>
        <p:nvSpPr>
          <p:cNvPr id="4" name="Text 2"/>
          <p:cNvSpPr/>
          <p:nvPr/>
        </p:nvSpPr>
        <p:spPr>
          <a:xfrm>
            <a:off x="808434" y="1098650"/>
            <a:ext cx="8543132" cy="478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3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Local LLM Inference for Real-Time Answers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8434" y="1875731"/>
            <a:ext cx="510053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phase leverages local processing to deliver immediate, accurate, and privacy-preserving responses directly on the user's machine.</a:t>
            </a:r>
            <a:endParaRPr lang="en-US" sz="1167" dirty="0"/>
          </a:p>
        </p:txBody>
      </p:sp>
      <p:sp>
        <p:nvSpPr>
          <p:cNvPr id="6" name="Text 4"/>
          <p:cNvSpPr/>
          <p:nvPr/>
        </p:nvSpPr>
        <p:spPr>
          <a:xfrm>
            <a:off x="808434" y="2431654"/>
            <a:ext cx="510053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operating entirely offline, we ensure that sensitive information remains secure and confidential.</a:t>
            </a:r>
            <a:endParaRPr lang="en-US" sz="1167" dirty="0"/>
          </a:p>
        </p:txBody>
      </p:sp>
      <p:sp>
        <p:nvSpPr>
          <p:cNvPr id="7" name="Shape 5"/>
          <p:cNvSpPr/>
          <p:nvPr/>
        </p:nvSpPr>
        <p:spPr>
          <a:xfrm>
            <a:off x="6178848" y="1763911"/>
            <a:ext cx="5321201" cy="4314528"/>
          </a:xfrm>
          <a:prstGeom prst="roundRect">
            <a:avLst>
              <a:gd name="adj" fmla="val 5115"/>
            </a:avLst>
          </a:prstGeom>
          <a:solidFill>
            <a:srgbClr val="DFEEE2"/>
          </a:solidFill>
          <a:ln/>
        </p:spPr>
      </p:sp>
      <p:sp>
        <p:nvSpPr>
          <p:cNvPr id="8" name="Shape 6"/>
          <p:cNvSpPr/>
          <p:nvPr/>
        </p:nvSpPr>
        <p:spPr>
          <a:xfrm>
            <a:off x="6332042" y="1903710"/>
            <a:ext cx="5014813" cy="1114128"/>
          </a:xfrm>
          <a:prstGeom prst="roundRect">
            <a:avLst>
              <a:gd name="adj" fmla="val 12381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6485235" y="2056904"/>
            <a:ext cx="289341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Engine: Qwen3-VL (4B)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85235" y="2420541"/>
            <a:ext cx="4708426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Utilizes </a:t>
            </a:r>
            <a:r>
              <a:rPr lang="en-US" sz="1167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Qwen3-VL (4B)</a:t>
            </a: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 efficient open-source model hosted locally via the </a:t>
            </a:r>
            <a:r>
              <a:rPr lang="en-US" sz="1167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Ollama</a:t>
            </a: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runtime for robust inference.</a:t>
            </a:r>
            <a:endParaRPr lang="en-US" sz="1167" dirty="0"/>
          </a:p>
        </p:txBody>
      </p:sp>
      <p:sp>
        <p:nvSpPr>
          <p:cNvPr id="11" name="Shape 9"/>
          <p:cNvSpPr/>
          <p:nvPr/>
        </p:nvSpPr>
        <p:spPr>
          <a:xfrm>
            <a:off x="6332042" y="3142060"/>
            <a:ext cx="5014813" cy="1336179"/>
          </a:xfrm>
          <a:prstGeom prst="roundRect">
            <a:avLst>
              <a:gd name="adj" fmla="val 10323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6485235" y="3295253"/>
            <a:ext cx="307240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Communication Layer: LiteLLM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85235" y="3658890"/>
            <a:ext cx="4708426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67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LiteLLM</a:t>
            </a: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acts as an abstraction layer, standardizing communication between the application and the local model, ensuring seamless operation.</a:t>
            </a:r>
            <a:endParaRPr lang="en-US" sz="1167" dirty="0"/>
          </a:p>
        </p:txBody>
      </p:sp>
      <p:sp>
        <p:nvSpPr>
          <p:cNvPr id="14" name="Shape 12"/>
          <p:cNvSpPr/>
          <p:nvPr/>
        </p:nvSpPr>
        <p:spPr>
          <a:xfrm>
            <a:off x="6332042" y="4602461"/>
            <a:ext cx="5014813" cy="1336179"/>
          </a:xfrm>
          <a:prstGeom prst="roundRect">
            <a:avLst>
              <a:gd name="adj" fmla="val 10323"/>
            </a:avLst>
          </a:prstGeom>
          <a:solidFill>
            <a:srgbClr val="E8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6485235" y="4755654"/>
            <a:ext cx="209708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Streaming Responses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85235" y="5119291"/>
            <a:ext cx="4708426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Responses are generated incrementally (streaming), ensuring the user sees the answer being built in real-time, enhancing user experience.</a:t>
            </a:r>
            <a:endParaRPr lang="en-US" sz="1167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6C0266-5247-D68B-7FD6-8870E9E8881B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647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520825"/>
            <a:ext cx="1459905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9" y="1577479"/>
            <a:ext cx="1233091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PRINCIPLE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951633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Unwavering Commitment to Security &amp; Privacy</a:t>
            </a:r>
            <a:endParaRPr lang="en-US" sz="3708" dirty="0"/>
          </a:p>
        </p:txBody>
      </p:sp>
      <p:sp>
        <p:nvSpPr>
          <p:cNvPr id="5" name="Shape 3"/>
          <p:cNvSpPr/>
          <p:nvPr/>
        </p:nvSpPr>
        <p:spPr>
          <a:xfrm>
            <a:off x="636092" y="3391000"/>
            <a:ext cx="50800" cy="1971576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901304" y="3416399"/>
            <a:ext cx="26939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Local-Only Processing</a:t>
            </a:r>
            <a:endParaRPr lang="en-US" sz="1833" dirty="0"/>
          </a:p>
        </p:txBody>
      </p:sp>
      <p:sp>
        <p:nvSpPr>
          <p:cNvPr id="7" name="Text 5"/>
          <p:cNvSpPr/>
          <p:nvPr/>
        </p:nvSpPr>
        <p:spPr>
          <a:xfrm>
            <a:off x="901304" y="3825082"/>
            <a:ext cx="322570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computations, from document ingestion to response generation, occur exclusively on the user's local machine; </a:t>
            </a:r>
            <a:r>
              <a:rPr lang="en-US" sz="1458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data is ever transmitted to the cloud.</a:t>
            </a:r>
            <a:endParaRPr lang="en-US" sz="1458" dirty="0"/>
          </a:p>
        </p:txBody>
      </p:sp>
      <p:sp>
        <p:nvSpPr>
          <p:cNvPr id="8" name="Shape 6"/>
          <p:cNvSpPr/>
          <p:nvPr/>
        </p:nvSpPr>
        <p:spPr>
          <a:xfrm>
            <a:off x="4337844" y="3391000"/>
            <a:ext cx="50800" cy="1971576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4603056" y="3416399"/>
            <a:ext cx="25349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In-Memory Handling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4603056" y="3825082"/>
            <a:ext cx="322570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Document data is processed entirely in RAM and is </a:t>
            </a:r>
            <a:r>
              <a:rPr lang="en-US" sz="1458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 stored permanently on disk</a:t>
            </a: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effectively mitigating data residue and breach risks.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8039596" y="3391000"/>
            <a:ext cx="50800" cy="1971576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2" name="Text 10"/>
          <p:cNvSpPr/>
          <p:nvPr/>
        </p:nvSpPr>
        <p:spPr>
          <a:xfrm>
            <a:off x="8304808" y="3416399"/>
            <a:ext cx="306189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Enhanced Confidentiality</a:t>
            </a:r>
            <a:endParaRPr lang="en-US" sz="1833" dirty="0"/>
          </a:p>
        </p:txBody>
      </p:sp>
      <p:sp>
        <p:nvSpPr>
          <p:cNvPr id="13" name="Text 11"/>
          <p:cNvSpPr/>
          <p:nvPr/>
        </p:nvSpPr>
        <p:spPr>
          <a:xfrm>
            <a:off x="8304808" y="3825082"/>
            <a:ext cx="322570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architecture makes the system ideally suited for handling strictly confidential academic, legal, and enterprise documents where data privacy is paramount.</a:t>
            </a:r>
            <a:endParaRPr lang="en-US" sz="1458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D0ADA-8199-B225-7387-62EFD7085C82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532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055489"/>
            <a:ext cx="1590080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9" y="1112143"/>
            <a:ext cx="136326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BENEFITS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486297"/>
            <a:ext cx="785167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Features of Our DQA System</a:t>
            </a:r>
            <a:endParaRPr lang="en-US" sz="3708" dirty="0"/>
          </a:p>
        </p:txBody>
      </p:sp>
      <p:sp>
        <p:nvSpPr>
          <p:cNvPr id="5" name="Shape 3"/>
          <p:cNvSpPr/>
          <p:nvPr/>
        </p:nvSpPr>
        <p:spPr>
          <a:xfrm>
            <a:off x="661492" y="2360414"/>
            <a:ext cx="425252" cy="42525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1275755" y="2425303"/>
            <a:ext cx="347087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Evidence-Grounded Answers</a:t>
            </a:r>
            <a:endParaRPr lang="en-US" sz="1833" dirty="0"/>
          </a:p>
        </p:txBody>
      </p:sp>
      <p:sp>
        <p:nvSpPr>
          <p:cNvPr id="7" name="Text 5"/>
          <p:cNvSpPr/>
          <p:nvPr/>
        </p:nvSpPr>
        <p:spPr>
          <a:xfrm>
            <a:off x="1275755" y="2833985"/>
            <a:ext cx="470207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Responses are strictly derived from the provided document; if information is not found, the system transparently states its inability to answer, preventing fabrication.</a:t>
            </a:r>
            <a:endParaRPr lang="en-US" sz="1458" dirty="0"/>
          </a:p>
        </p:txBody>
      </p:sp>
      <p:sp>
        <p:nvSpPr>
          <p:cNvPr id="8" name="Shape 6"/>
          <p:cNvSpPr/>
          <p:nvPr/>
        </p:nvSpPr>
        <p:spPr>
          <a:xfrm>
            <a:off x="6214070" y="2360414"/>
            <a:ext cx="425252" cy="42525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6828334" y="2425303"/>
            <a:ext cx="24618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Page-Level Citations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6828333" y="2833985"/>
            <a:ext cx="470217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generated response includes precise references to the specific page(s) within the document where the information was located, enhancing trustworthiness.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661492" y="4421683"/>
            <a:ext cx="425252" cy="42525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1275755" y="4486573"/>
            <a:ext cx="288379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Performance</a:t>
            </a:r>
            <a:endParaRPr lang="en-US" sz="1833" dirty="0"/>
          </a:p>
        </p:txBody>
      </p:sp>
      <p:sp>
        <p:nvSpPr>
          <p:cNvPr id="13" name="Text 11"/>
          <p:cNvSpPr/>
          <p:nvPr/>
        </p:nvSpPr>
        <p:spPr>
          <a:xfrm>
            <a:off x="1275755" y="4895255"/>
            <a:ext cx="4702076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Streaming inference provides immediate feedback to the user, enhancing the overall experience and making interactions feel seamless and responsive.</a:t>
            </a:r>
            <a:endParaRPr lang="en-US" sz="1458" dirty="0"/>
          </a:p>
        </p:txBody>
      </p:sp>
      <p:sp>
        <p:nvSpPr>
          <p:cNvPr id="14" name="Shape 12"/>
          <p:cNvSpPr/>
          <p:nvPr/>
        </p:nvSpPr>
        <p:spPr>
          <a:xfrm>
            <a:off x="6214070" y="4421683"/>
            <a:ext cx="425252" cy="42525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6828334" y="4486573"/>
            <a:ext cx="35174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Transparency in Information</a:t>
            </a:r>
            <a:endParaRPr lang="en-US" sz="1833" dirty="0"/>
          </a:p>
        </p:txBody>
      </p:sp>
      <p:sp>
        <p:nvSpPr>
          <p:cNvPr id="16" name="Text 14"/>
          <p:cNvSpPr/>
          <p:nvPr/>
        </p:nvSpPr>
        <p:spPr>
          <a:xfrm>
            <a:off x="6828333" y="4895255"/>
            <a:ext cx="4702175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explicitly reports when information is missing, fostering trust by avoiding the fabrication of plausible but incorrect responses.</a:t>
            </a:r>
            <a:endParaRPr lang="en-US" sz="1458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4C68B-CE01-E8A7-09A4-A1094A2EB7FB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204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032967"/>
            <a:ext cx="1225153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9" y="1089620"/>
            <a:ext cx="99833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463774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Summary: Offline, Privacy-Preserving DQA</a:t>
            </a:r>
            <a:endParaRPr lang="en-US" sz="3708" dirty="0"/>
          </a:p>
        </p:txBody>
      </p:sp>
      <p:sp>
        <p:nvSpPr>
          <p:cNvPr id="5" name="Shape 3"/>
          <p:cNvSpPr/>
          <p:nvPr/>
        </p:nvSpPr>
        <p:spPr>
          <a:xfrm>
            <a:off x="661492" y="2928541"/>
            <a:ext cx="10869018" cy="2896493"/>
          </a:xfrm>
          <a:prstGeom prst="roundRect">
            <a:avLst>
              <a:gd name="adj" fmla="val 5873"/>
            </a:avLst>
          </a:prstGeom>
          <a:solidFill>
            <a:srgbClr val="E8F3E8"/>
          </a:solidFill>
          <a:ln/>
        </p:spPr>
      </p:sp>
      <p:sp>
        <p:nvSpPr>
          <p:cNvPr id="6" name="Shape 4"/>
          <p:cNvSpPr/>
          <p:nvPr/>
        </p:nvSpPr>
        <p:spPr>
          <a:xfrm>
            <a:off x="661492" y="2928541"/>
            <a:ext cx="3622973" cy="2896493"/>
          </a:xfrm>
          <a:prstGeom prst="roundRect">
            <a:avLst>
              <a:gd name="adj" fmla="val 5873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850504" y="3117553"/>
            <a:ext cx="32449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Achieved a Robust Solution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850504" y="3821509"/>
            <a:ext cx="324494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Successfully designed and implemented an offline, privacy-preserving conversational assistant for document question answering.</a:t>
            </a:r>
            <a:endParaRPr lang="en-US" sz="1458" dirty="0"/>
          </a:p>
        </p:txBody>
      </p:sp>
      <p:sp>
        <p:nvSpPr>
          <p:cNvPr id="9" name="Shape 7"/>
          <p:cNvSpPr/>
          <p:nvPr/>
        </p:nvSpPr>
        <p:spPr>
          <a:xfrm>
            <a:off x="4284464" y="2928541"/>
            <a:ext cx="3622973" cy="2896493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0" name="Shape 8"/>
          <p:cNvSpPr/>
          <p:nvPr/>
        </p:nvSpPr>
        <p:spPr>
          <a:xfrm>
            <a:off x="4284464" y="2928541"/>
            <a:ext cx="25400" cy="2896493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11" name="Text 9"/>
          <p:cNvSpPr/>
          <p:nvPr/>
        </p:nvSpPr>
        <p:spPr>
          <a:xfrm>
            <a:off x="4473476" y="3117553"/>
            <a:ext cx="2959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Solved Critical Problems</a:t>
            </a:r>
            <a:endParaRPr lang="en-US" sz="1833" dirty="0"/>
          </a:p>
        </p:txBody>
      </p:sp>
      <p:sp>
        <p:nvSpPr>
          <p:cNvPr id="12" name="Text 10"/>
          <p:cNvSpPr/>
          <p:nvPr/>
        </p:nvSpPr>
        <p:spPr>
          <a:xfrm>
            <a:off x="4473476" y="3526235"/>
            <a:ext cx="324494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Directly addressed the prevalent issues of hallucination and data privacy commonly found in cloud-based RAG systems, enhancing reliability.</a:t>
            </a:r>
            <a:endParaRPr lang="en-US" sz="1458" dirty="0"/>
          </a:p>
        </p:txBody>
      </p:sp>
      <p:sp>
        <p:nvSpPr>
          <p:cNvPr id="13" name="Shape 11"/>
          <p:cNvSpPr/>
          <p:nvPr/>
        </p:nvSpPr>
        <p:spPr>
          <a:xfrm>
            <a:off x="7907437" y="2928541"/>
            <a:ext cx="3622973" cy="2896493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7437" y="2928541"/>
            <a:ext cx="25400" cy="2896493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449" y="3117553"/>
            <a:ext cx="32449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Demonstrated Feasible Performance</a:t>
            </a:r>
            <a:endParaRPr lang="en-US" sz="1833" dirty="0"/>
          </a:p>
        </p:txBody>
      </p:sp>
      <p:sp>
        <p:nvSpPr>
          <p:cNvPr id="16" name="Text 14"/>
          <p:cNvSpPr/>
          <p:nvPr/>
        </p:nvSpPr>
        <p:spPr>
          <a:xfrm>
            <a:off x="8096449" y="3821509"/>
            <a:ext cx="324494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Proved that consumer-grade hardware can effectively handle long-form document QA using efficient local models, democratizing access to advanced NLP.</a:t>
            </a:r>
            <a:endParaRPr lang="en-US" sz="1458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4DB2C-CA1A-2599-7858-15D3BD78F3E2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578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155204"/>
            <a:ext cx="1225153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9" y="1211858"/>
            <a:ext cx="99833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586012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IntelliDoc: Trust, Transparency, and Feasibility</a:t>
            </a:r>
            <a:endParaRPr lang="en-US" sz="3708" dirty="0"/>
          </a:p>
        </p:txBody>
      </p:sp>
      <p:sp>
        <p:nvSpPr>
          <p:cNvPr id="5" name="Shape 3"/>
          <p:cNvSpPr/>
          <p:nvPr/>
        </p:nvSpPr>
        <p:spPr>
          <a:xfrm>
            <a:off x="661492" y="3050779"/>
            <a:ext cx="3496965" cy="2652018"/>
          </a:xfrm>
          <a:prstGeom prst="roundRect">
            <a:avLst>
              <a:gd name="adj" fmla="val 459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092" y="3050779"/>
            <a:ext cx="101600" cy="26520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952104" y="326519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Trustworthy AI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952103" y="3673872"/>
            <a:ext cx="29919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IntelliDoc ensures every output is directly traceable to the source document, providing unprecedented explainability and transparency in AI-driven analysis.</a:t>
            </a:r>
            <a:endParaRPr lang="en-US" sz="1458" dirty="0"/>
          </a:p>
        </p:txBody>
      </p:sp>
      <p:sp>
        <p:nvSpPr>
          <p:cNvPr id="9" name="Shape 7"/>
          <p:cNvSpPr/>
          <p:nvPr/>
        </p:nvSpPr>
        <p:spPr>
          <a:xfrm>
            <a:off x="4347468" y="3050779"/>
            <a:ext cx="3496965" cy="2652018"/>
          </a:xfrm>
          <a:prstGeom prst="roundRect">
            <a:avLst>
              <a:gd name="adj" fmla="val 459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2068" y="3050779"/>
            <a:ext cx="101600" cy="26520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1" name="Text 9"/>
          <p:cNvSpPr/>
          <p:nvPr/>
        </p:nvSpPr>
        <p:spPr>
          <a:xfrm>
            <a:off x="4638080" y="326519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Confidence</a:t>
            </a:r>
            <a:endParaRPr lang="en-US" sz="1833" dirty="0"/>
          </a:p>
        </p:txBody>
      </p:sp>
      <p:sp>
        <p:nvSpPr>
          <p:cNvPr id="12" name="Text 10"/>
          <p:cNvSpPr/>
          <p:nvPr/>
        </p:nvSpPr>
        <p:spPr>
          <a:xfrm>
            <a:off x="4638080" y="3673872"/>
            <a:ext cx="29919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system's strict evidence enforcement builds profound trust, making it a robust and reliable tool for rigorous academic research and demanding legal applications.</a:t>
            </a:r>
            <a:endParaRPr lang="en-US" sz="1458" dirty="0"/>
          </a:p>
        </p:txBody>
      </p:sp>
      <p:sp>
        <p:nvSpPr>
          <p:cNvPr id="13" name="Shape 11"/>
          <p:cNvSpPr/>
          <p:nvPr/>
        </p:nvSpPr>
        <p:spPr>
          <a:xfrm>
            <a:off x="8033444" y="3050779"/>
            <a:ext cx="3496965" cy="2652018"/>
          </a:xfrm>
          <a:prstGeom prst="roundRect">
            <a:avLst>
              <a:gd name="adj" fmla="val 4597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8044" y="3050779"/>
            <a:ext cx="101600" cy="2652018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5" name="Text 13"/>
          <p:cNvSpPr/>
          <p:nvPr/>
        </p:nvSpPr>
        <p:spPr>
          <a:xfrm>
            <a:off x="8324057" y="326519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Feasibility</a:t>
            </a:r>
            <a:endParaRPr lang="en-US" sz="1833" dirty="0"/>
          </a:p>
        </p:txBody>
      </p:sp>
      <p:sp>
        <p:nvSpPr>
          <p:cNvPr id="16" name="Text 14"/>
          <p:cNvSpPr/>
          <p:nvPr/>
        </p:nvSpPr>
        <p:spPr>
          <a:xfrm>
            <a:off x="8324057" y="3673872"/>
            <a:ext cx="299194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IntelliDoc demonstrates that high-quality document analysis is achievable without expensive cloud subscriptions or compromising data privacy and security.</a:t>
            </a:r>
            <a:endParaRPr lang="en-US" sz="1458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BF3606-30EA-B9F2-1DD9-798C09D35FB5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031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B5E9B3E-4080-AFFC-46ED-41A10836B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827"/>
            <a:ext cx="12192000" cy="67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34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976313"/>
            <a:ext cx="1111349" cy="355203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98" y="1032967"/>
            <a:ext cx="884535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RESOURCES</a:t>
            </a:r>
            <a:endParaRPr lang="en-US" sz="1167" dirty="0"/>
          </a:p>
        </p:txBody>
      </p:sp>
      <p:sp>
        <p:nvSpPr>
          <p:cNvPr id="4" name="Text 2"/>
          <p:cNvSpPr/>
          <p:nvPr/>
        </p:nvSpPr>
        <p:spPr>
          <a:xfrm>
            <a:off x="661492" y="1407121"/>
            <a:ext cx="1029910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References for IntelliDoc's Foundation</a:t>
            </a:r>
            <a:endParaRPr lang="en-US" sz="3708" dirty="0"/>
          </a:p>
        </p:txBody>
      </p:sp>
      <p:sp>
        <p:nvSpPr>
          <p:cNvPr id="5" name="Shape 3"/>
          <p:cNvSpPr/>
          <p:nvPr/>
        </p:nvSpPr>
        <p:spPr>
          <a:xfrm>
            <a:off x="661492" y="2381647"/>
            <a:ext cx="94457" cy="94457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944960" y="2281238"/>
            <a:ext cx="503287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NeuSym-RAG: Hybrid Neural Symbolic Retrieval with Multiview Structuring for PDF QA (2025)</a:t>
            </a:r>
            <a:endParaRPr lang="en-US" sz="1833" dirty="0"/>
          </a:p>
        </p:txBody>
      </p:sp>
      <p:sp>
        <p:nvSpPr>
          <p:cNvPr id="7" name="Text 5"/>
          <p:cNvSpPr/>
          <p:nvPr/>
        </p:nvSpPr>
        <p:spPr>
          <a:xfrm>
            <a:off x="944960" y="3280469"/>
            <a:ext cx="50328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seminal work explores advanced retrieval methods crucial for complex PDF question-answering systems.</a:t>
            </a:r>
            <a:endParaRPr lang="en-US" sz="1458" dirty="0"/>
          </a:p>
        </p:txBody>
      </p:sp>
      <p:sp>
        <p:nvSpPr>
          <p:cNvPr id="8" name="Shape 6"/>
          <p:cNvSpPr/>
          <p:nvPr/>
        </p:nvSpPr>
        <p:spPr>
          <a:xfrm>
            <a:off x="6214070" y="2381647"/>
            <a:ext cx="94457" cy="94457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6497538" y="2281238"/>
            <a:ext cx="503297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PDF Retrieval Augmented Question Answering (2025)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6497538" y="2985194"/>
            <a:ext cx="5032970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foundational paper detailing techniques for enhancing question answering by augmenting with information from PDF documents.</a:t>
            </a:r>
            <a:endParaRPr lang="en-US" sz="1458" dirty="0"/>
          </a:p>
        </p:txBody>
      </p:sp>
      <p:sp>
        <p:nvSpPr>
          <p:cNvPr id="11" name="Shape 9"/>
          <p:cNvSpPr/>
          <p:nvPr/>
        </p:nvSpPr>
        <p:spPr>
          <a:xfrm>
            <a:off x="661492" y="4370883"/>
            <a:ext cx="94457" cy="94457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44960" y="4270474"/>
            <a:ext cx="503287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Groundedness in Retrieval-Augmented Generation (2024)</a:t>
            </a:r>
            <a:endParaRPr lang="en-US" sz="1833" dirty="0"/>
          </a:p>
        </p:txBody>
      </p:sp>
      <p:sp>
        <p:nvSpPr>
          <p:cNvPr id="13" name="Text 11"/>
          <p:cNvSpPr/>
          <p:nvPr/>
        </p:nvSpPr>
        <p:spPr>
          <a:xfrm>
            <a:off x="944960" y="4974432"/>
            <a:ext cx="5032871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Addresses the critical aspect of ensuring AI-generated content is well-supported by verifiable sources, central to IntelliDoc's trustworthiness.</a:t>
            </a:r>
            <a:endParaRPr lang="en-US" sz="1458" dirty="0"/>
          </a:p>
        </p:txBody>
      </p:sp>
      <p:sp>
        <p:nvSpPr>
          <p:cNvPr id="14" name="Shape 12"/>
          <p:cNvSpPr/>
          <p:nvPr/>
        </p:nvSpPr>
        <p:spPr>
          <a:xfrm>
            <a:off x="6214070" y="4370883"/>
            <a:ext cx="94457" cy="94457"/>
          </a:xfrm>
          <a:prstGeom prst="roundRect">
            <a:avLst>
              <a:gd name="adj" fmla="val 403360"/>
            </a:avLst>
          </a:prstGeom>
          <a:solidFill>
            <a:srgbClr val="43895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7538" y="4270474"/>
            <a:ext cx="503297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Retrieval-Augmented Generation for NLP: A Survey (2025)</a:t>
            </a:r>
            <a:endParaRPr lang="en-US" sz="1833" dirty="0"/>
          </a:p>
        </p:txBody>
      </p:sp>
      <p:sp>
        <p:nvSpPr>
          <p:cNvPr id="16" name="Text 14"/>
          <p:cNvSpPr/>
          <p:nvPr/>
        </p:nvSpPr>
        <p:spPr>
          <a:xfrm>
            <a:off x="6497538" y="4974432"/>
            <a:ext cx="5032970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 overview of the field of Retrieval-Augmented Generation, providing context and state-of-the-art developments.</a:t>
            </a:r>
            <a:endParaRPr lang="en-US" sz="1458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9C7680-2CC1-5FCB-920B-8B5BCD9312ED}"/>
              </a:ext>
            </a:extLst>
          </p:cNvPr>
          <p:cNvSpPr txBox="1"/>
          <p:nvPr/>
        </p:nvSpPr>
        <p:spPr>
          <a:xfrm>
            <a:off x="10262748" y="6414230"/>
            <a:ext cx="1906859" cy="369332"/>
          </a:xfrm>
          <a:prstGeom prst="rect">
            <a:avLst/>
          </a:prstGeom>
          <a:solidFill>
            <a:srgbClr val="FAFFF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126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1565</Words>
  <Application>Microsoft Office PowerPoint</Application>
  <PresentationFormat>Widescreen</PresentationFormat>
  <Paragraphs>176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Fraunces Extra Bold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Prabal Dubey</dc:creator>
  <cp:lastModifiedBy>Prabal Dubey</cp:lastModifiedBy>
  <cp:revision>3</cp:revision>
  <dcterms:created xsi:type="dcterms:W3CDTF">2026-01-28T05:46:05Z</dcterms:created>
  <dcterms:modified xsi:type="dcterms:W3CDTF">2026-01-28T10:17:37Z</dcterms:modified>
</cp:coreProperties>
</file>